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9" r:id="rId4"/>
  </p:sldMasterIdLst>
  <p:notesMasterIdLst>
    <p:notesMasterId r:id="rId6"/>
  </p:notesMasterIdLst>
  <p:sldIdLst>
    <p:sldId id="1055" r:id="rId5"/>
    <p:sldId id="346" r:id="rId7"/>
    <p:sldId id="1054" r:id="rId8"/>
    <p:sldId id="297" r:id="rId9"/>
    <p:sldId id="1097" r:id="rId10"/>
    <p:sldId id="1098" r:id="rId11"/>
    <p:sldId id="1099" r:id="rId12"/>
    <p:sldId id="1100" r:id="rId13"/>
    <p:sldId id="1101" r:id="rId14"/>
    <p:sldId id="1102" r:id="rId15"/>
    <p:sldId id="1063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59" autoAdjust="0"/>
  </p:normalViewPr>
  <p:slideViewPr>
    <p:cSldViewPr snapToGrid="0" showGuides="1">
      <p:cViewPr>
        <p:scale>
          <a:sx n="100" d="100"/>
          <a:sy n="100" d="100"/>
        </p:scale>
        <p:origin x="-990" y="-432"/>
      </p:cViewPr>
      <p:guideLst>
        <p:guide orient="horz" pos="218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8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00174BB-53EE-45EA-84AF-842BFE25EA7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3616380-4D91-43BB-AB19-A369B4EA077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50C4EE6-7E3D-412F-8AFA-B4D678A9EE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 l="528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5147687" y="-223903"/>
            <a:ext cx="18956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44B5E3D8-B559-49FC-84E7-900B409E63B2}" type="slidenum">
              <a:rPr kumimoji="0" lang="id-ID" sz="9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antGarde Bk BT" panose="020B0402020202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</a:fld>
            <a:endParaRPr lang="bg-BG" sz="9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632D7-6FC5-4F1F-BD09-62CFF46557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B11E6-E9F9-4B83-8B53-4B698CD69B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5.xml"/><Relationship Id="rId11" Type="http://schemas.openxmlformats.org/officeDocument/2006/relationships/themeOverride" Target="../theme/themeOverride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tags" Target="../tags/tag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2017395" y="2621915"/>
            <a:ext cx="81572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dist">
              <a:defRPr/>
            </a:pPr>
            <a:r>
              <a:rPr lang="zh-CN" altLang="en-US" sz="4000" dirty="0">
                <a:latin typeface="阿里巴巴普惠体"/>
                <a:ea typeface="字魂58号-创中黑"/>
                <a:cs typeface="+mn-ea"/>
                <a:sym typeface="阿里巴巴普惠体"/>
              </a:rPr>
              <a:t>城市空气质量监测及归因预警系统</a:t>
            </a:r>
            <a:endParaRPr lang="zh-CN" altLang="en-US" sz="4000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056829" y="3793612"/>
            <a:ext cx="607834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4173688" y="4138920"/>
            <a:ext cx="3844624" cy="337185"/>
            <a:chOff x="3008566" y="4228130"/>
            <a:chExt cx="3844624" cy="337185"/>
          </a:xfrm>
          <a:noFill/>
        </p:grpSpPr>
        <p:sp>
          <p:nvSpPr>
            <p:cNvPr id="6" name="文本框 15"/>
            <p:cNvSpPr txBox="1"/>
            <p:nvPr/>
          </p:nvSpPr>
          <p:spPr>
            <a:xfrm>
              <a:off x="3008566" y="4228130"/>
              <a:ext cx="1922312" cy="3371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汇报人：第</a:t>
              </a: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10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组</a:t>
              </a:r>
              <a:endPara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8号-创中黑" pitchFamily="2" charset="-122"/>
                <a:ea typeface="字魂58号-创中黑" pitchFamily="2" charset="-122"/>
                <a:cs typeface="+mn-ea"/>
                <a:sym typeface="阿里巴巴普惠体"/>
              </a:endParaRPr>
            </a:p>
          </p:txBody>
        </p:sp>
        <p:sp>
          <p:nvSpPr>
            <p:cNvPr id="7" name="文本框 10"/>
            <p:cNvSpPr txBox="1"/>
            <p:nvPr/>
          </p:nvSpPr>
          <p:spPr>
            <a:xfrm>
              <a:off x="5092268" y="4228130"/>
              <a:ext cx="1760922" cy="3371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2026/01/02</a:t>
              </a:r>
              <a:endPara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58号-创中黑" pitchFamily="2" charset="-122"/>
                <a:ea typeface="字魂58号-创中黑" pitchFamily="2" charset="-122"/>
                <a:cs typeface="+mn-ea"/>
                <a:sym typeface="阿里巴巴普惠体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4"/>
          <p:cNvSpPr/>
          <p:nvPr/>
        </p:nvSpPr>
        <p:spPr>
          <a:xfrm>
            <a:off x="2899769" y="1806551"/>
            <a:ext cx="3359440" cy="1343776"/>
          </a:xfrm>
          <a:custGeom>
            <a:avLst/>
            <a:gdLst/>
            <a:ahLst/>
            <a:cxnLst/>
            <a:rect l="l" t="t" r="r" b="b"/>
            <a:pathLst>
              <a:path w="1080120" h="432048">
                <a:moveTo>
                  <a:pt x="216024" y="0"/>
                </a:moveTo>
                <a:lnTo>
                  <a:pt x="864096" y="0"/>
                </a:lnTo>
                <a:lnTo>
                  <a:pt x="868901" y="0"/>
                </a:lnTo>
                <a:lnTo>
                  <a:pt x="868901" y="485"/>
                </a:lnTo>
                <a:cubicBezTo>
                  <a:pt x="985994" y="2613"/>
                  <a:pt x="1080120" y="98326"/>
                  <a:pt x="1080120" y="216024"/>
                </a:cubicBezTo>
                <a:cubicBezTo>
                  <a:pt x="1080120" y="333722"/>
                  <a:pt x="985994" y="429435"/>
                  <a:pt x="868901" y="431564"/>
                </a:cubicBezTo>
                <a:lnTo>
                  <a:pt x="868901" y="432048"/>
                </a:lnTo>
                <a:lnTo>
                  <a:pt x="864096" y="432048"/>
                </a:lnTo>
                <a:lnTo>
                  <a:pt x="216024" y="432048"/>
                </a:lnTo>
                <a:cubicBezTo>
                  <a:pt x="96717" y="432048"/>
                  <a:pt x="0" y="335331"/>
                  <a:pt x="0" y="216024"/>
                </a:cubicBezTo>
                <a:cubicBezTo>
                  <a:pt x="0" y="96717"/>
                  <a:pt x="96717" y="0"/>
                  <a:pt x="216024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955761" y="1918533"/>
            <a:ext cx="1119813" cy="111981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FFFFFF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01</a:t>
            </a:r>
            <a:endParaRPr lang="zh-CN" altLang="en-US" sz="3200">
              <a:solidFill>
                <a:srgbClr val="FFFFFF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grpSp>
        <p:nvGrpSpPr>
          <p:cNvPr id="18" name="组合 17"/>
          <p:cNvGrpSpPr/>
          <p:nvPr/>
        </p:nvGrpSpPr>
        <p:grpSpPr>
          <a:xfrm flipH="1">
            <a:off x="1555993" y="1636981"/>
            <a:ext cx="2687552" cy="1727711"/>
            <a:chOff x="2339752" y="1772816"/>
            <a:chExt cx="2016224" cy="1296144"/>
          </a:xfrm>
        </p:grpSpPr>
        <p:sp>
          <p:nvSpPr>
            <p:cNvPr id="19" name="弧形 18"/>
            <p:cNvSpPr/>
            <p:nvPr/>
          </p:nvSpPr>
          <p:spPr>
            <a:xfrm>
              <a:off x="2339752" y="1772816"/>
              <a:ext cx="1296144" cy="1296144"/>
            </a:xfrm>
            <a:prstGeom prst="arc">
              <a:avLst>
                <a:gd name="adj1" fmla="val 16200000"/>
                <a:gd name="adj2" fmla="val 5554345"/>
              </a:avLst>
            </a:prstGeom>
            <a:ln w="19050">
              <a:solidFill>
                <a:schemeClr val="accent2">
                  <a:lumMod val="60000"/>
                  <a:lumOff val="4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3635896" y="2420888"/>
              <a:ext cx="720080" cy="0"/>
            </a:xfrm>
            <a:prstGeom prst="line">
              <a:avLst/>
            </a:prstGeom>
            <a:ln w="19050">
              <a:solidFill>
                <a:schemeClr val="accent2">
                  <a:lumMod val="60000"/>
                  <a:lumOff val="4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直接连接符 31"/>
          <p:cNvCxnSpPr/>
          <p:nvPr>
            <p:custDataLst>
              <p:tags r:id="rId1"/>
            </p:custDataLst>
          </p:nvPr>
        </p:nvCxnSpPr>
        <p:spPr>
          <a:xfrm flipH="1">
            <a:off x="7043078" y="1972925"/>
            <a:ext cx="0" cy="895851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7476490" y="1806583"/>
            <a:ext cx="3467735" cy="1247775"/>
            <a:chOff x="7476509" y="1871092"/>
            <a:chExt cx="2938078" cy="1247721"/>
          </a:xfrm>
        </p:grpSpPr>
        <p:sp>
          <p:nvSpPr>
            <p:cNvPr id="35" name="Shape 63"/>
            <p:cNvSpPr/>
            <p:nvPr>
              <p:custDataLst>
                <p:tags r:id="rId3"/>
              </p:custDataLst>
            </p:nvPr>
          </p:nvSpPr>
          <p:spPr>
            <a:xfrm>
              <a:off x="7476509" y="2180324"/>
              <a:ext cx="2938078" cy="938489"/>
            </a:xfrm>
            <a:prstGeom prst="rect">
              <a:avLst/>
            </a:prstGeom>
          </p:spPr>
          <p:txBody>
            <a:bodyPr vert="horz" wrap="square" lIns="108745" tIns="54373" rIns="108745" bIns="54373" rtlCol="0">
              <a:spAutoFit/>
            </a:bodyPr>
            <a:lstStyle/>
            <a:p>
              <a:pPr fontAlgn="base">
                <a:lnSpc>
                  <a:spcPct val="150000"/>
                </a:lnSpc>
              </a:pPr>
              <a:r>
                <a:rPr lang="en-US" altLang="zh-CN" sz="1200"/>
                <a:t>PM2.5</a:t>
              </a:r>
              <a:r>
                <a:rPr lang="zh-CN" altLang="en-US" sz="1200"/>
                <a:t>污染具有高度的时间依赖性和气象相关性。</a:t>
              </a:r>
              <a:endParaRPr lang="zh-CN" altLang="en-US" sz="1200"/>
            </a:p>
            <a:p>
              <a:pPr fontAlgn="base">
                <a:lnSpc>
                  <a:spcPct val="150000"/>
                </a:lnSpc>
              </a:pPr>
              <a:r>
                <a:rPr lang="zh-CN" altLang="en-US" sz="1200"/>
                <a:t>现有方法多依赖黑盒机器学习，缺乏统计可解释性。</a:t>
              </a:r>
              <a:endParaRPr lang="zh-CN" altLang="en-US" sz="1200"/>
            </a:p>
          </p:txBody>
        </p:sp>
        <p:sp>
          <p:nvSpPr>
            <p:cNvPr id="36" name="TextBox 15"/>
            <p:cNvSpPr txBox="1"/>
            <p:nvPr>
              <p:custDataLst>
                <p:tags r:id="rId4"/>
              </p:custDataLst>
            </p:nvPr>
          </p:nvSpPr>
          <p:spPr>
            <a:xfrm>
              <a:off x="7476509" y="1871092"/>
              <a:ext cx="2533493" cy="36828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zh-CN" altLang="en-US">
                  <a:latin typeface="阿里巴巴普惠体"/>
                  <a:ea typeface="字魂58号-创中黑"/>
                  <a:cs typeface="+mn-ea"/>
                  <a:sym typeface="阿里巴巴普惠体"/>
                </a:rPr>
                <a:t>问题定义：</a:t>
              </a:r>
              <a:endParaRPr lang="en-US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  <p:sp>
        <p:nvSpPr>
          <p:cNvPr id="13" name="椭圆 4"/>
          <p:cNvSpPr/>
          <p:nvPr/>
        </p:nvSpPr>
        <p:spPr>
          <a:xfrm>
            <a:off x="3571658" y="3620650"/>
            <a:ext cx="2687552" cy="1075021"/>
          </a:xfrm>
          <a:custGeom>
            <a:avLst/>
            <a:gdLst/>
            <a:ahLst/>
            <a:cxnLst/>
            <a:rect l="l" t="t" r="r" b="b"/>
            <a:pathLst>
              <a:path w="1080120" h="432048">
                <a:moveTo>
                  <a:pt x="216024" y="0"/>
                </a:moveTo>
                <a:lnTo>
                  <a:pt x="864096" y="0"/>
                </a:lnTo>
                <a:lnTo>
                  <a:pt x="868901" y="0"/>
                </a:lnTo>
                <a:lnTo>
                  <a:pt x="868901" y="485"/>
                </a:lnTo>
                <a:cubicBezTo>
                  <a:pt x="985994" y="2613"/>
                  <a:pt x="1080120" y="98326"/>
                  <a:pt x="1080120" y="216024"/>
                </a:cubicBezTo>
                <a:cubicBezTo>
                  <a:pt x="1080120" y="333722"/>
                  <a:pt x="985994" y="429435"/>
                  <a:pt x="868901" y="431564"/>
                </a:cubicBezTo>
                <a:lnTo>
                  <a:pt x="868901" y="432048"/>
                </a:lnTo>
                <a:lnTo>
                  <a:pt x="864096" y="432048"/>
                </a:lnTo>
                <a:lnTo>
                  <a:pt x="216024" y="432048"/>
                </a:lnTo>
                <a:cubicBezTo>
                  <a:pt x="96717" y="432048"/>
                  <a:pt x="0" y="335331"/>
                  <a:pt x="0" y="216024"/>
                </a:cubicBezTo>
                <a:cubicBezTo>
                  <a:pt x="0" y="96717"/>
                  <a:pt x="96717" y="0"/>
                  <a:pt x="216024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616452" y="3710235"/>
            <a:ext cx="895851" cy="89585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grpSp>
        <p:nvGrpSpPr>
          <p:cNvPr id="21" name="组合 20"/>
          <p:cNvGrpSpPr>
            <a:grpSpLocks noChangeAspect="1"/>
          </p:cNvGrpSpPr>
          <p:nvPr/>
        </p:nvGrpSpPr>
        <p:grpSpPr>
          <a:xfrm flipH="1">
            <a:off x="2451845" y="3467075"/>
            <a:ext cx="2150042" cy="1382169"/>
            <a:chOff x="2339752" y="1772816"/>
            <a:chExt cx="2016224" cy="1296144"/>
          </a:xfrm>
        </p:grpSpPr>
        <p:sp>
          <p:nvSpPr>
            <p:cNvPr id="22" name="弧形 21"/>
            <p:cNvSpPr/>
            <p:nvPr/>
          </p:nvSpPr>
          <p:spPr>
            <a:xfrm>
              <a:off x="2339752" y="1772816"/>
              <a:ext cx="1296144" cy="1296144"/>
            </a:xfrm>
            <a:prstGeom prst="arc">
              <a:avLst>
                <a:gd name="adj1" fmla="val 16200000"/>
                <a:gd name="adj2" fmla="val 5554345"/>
              </a:avLst>
            </a:prstGeom>
            <a:ln w="19050">
              <a:solidFill>
                <a:schemeClr val="accent2">
                  <a:lumMod val="60000"/>
                  <a:lumOff val="4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635896" y="2420888"/>
              <a:ext cx="720080" cy="0"/>
            </a:xfrm>
            <a:prstGeom prst="line">
              <a:avLst/>
            </a:prstGeom>
            <a:ln w="19050">
              <a:solidFill>
                <a:schemeClr val="accent2">
                  <a:lumMod val="60000"/>
                  <a:lumOff val="4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1"/>
          <p:cNvSpPr txBox="1"/>
          <p:nvPr/>
        </p:nvSpPr>
        <p:spPr>
          <a:xfrm>
            <a:off x="3738808" y="3870981"/>
            <a:ext cx="655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FFFFFF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02</a:t>
            </a:r>
            <a:endParaRPr lang="zh-CN" altLang="en-US" sz="3200">
              <a:solidFill>
                <a:srgbClr val="FFFFFF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 flipH="1">
            <a:off x="7043079" y="3649444"/>
            <a:ext cx="0" cy="895851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hape 63"/>
          <p:cNvSpPr/>
          <p:nvPr>
            <p:custDataLst>
              <p:tags r:id="rId6"/>
            </p:custDataLst>
          </p:nvPr>
        </p:nvSpPr>
        <p:spPr>
          <a:xfrm>
            <a:off x="7476490" y="3747770"/>
            <a:ext cx="3313430" cy="97536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/>
          <a:p>
            <a:pPr defTabSz="1087755"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/>
              <a:t>构建一个纯统计学驱动的分析系统。</a:t>
            </a:r>
            <a:endParaRPr lang="zh-CN" altLang="en-US" sz="1200"/>
          </a:p>
          <a:p>
            <a:pPr defTabSz="1087755"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/>
              <a:t>实现从归因分析、状态识别到趋势预测的全流程覆盖。</a:t>
            </a:r>
            <a:endParaRPr lang="zh-CN" altLang="en-US" sz="1200"/>
          </a:p>
        </p:txBody>
      </p:sp>
      <p:sp>
        <p:nvSpPr>
          <p:cNvPr id="47" name="TextBox 15"/>
          <p:cNvSpPr txBox="1"/>
          <p:nvPr>
            <p:custDataLst>
              <p:tags r:id="rId7"/>
            </p:custDataLst>
          </p:nvPr>
        </p:nvSpPr>
        <p:spPr>
          <a:xfrm>
            <a:off x="7476509" y="3438651"/>
            <a:ext cx="2533493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核心目标：</a:t>
            </a:r>
            <a:endParaRPr lang="zh-CN" altLang="en-US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16" name="椭圆 4"/>
          <p:cNvSpPr/>
          <p:nvPr/>
        </p:nvSpPr>
        <p:spPr>
          <a:xfrm>
            <a:off x="4243546" y="5101361"/>
            <a:ext cx="2015664" cy="806266"/>
          </a:xfrm>
          <a:custGeom>
            <a:avLst/>
            <a:gdLst/>
            <a:ahLst/>
            <a:cxnLst/>
            <a:rect l="l" t="t" r="r" b="b"/>
            <a:pathLst>
              <a:path w="1080120" h="432048">
                <a:moveTo>
                  <a:pt x="216024" y="0"/>
                </a:moveTo>
                <a:lnTo>
                  <a:pt x="864096" y="0"/>
                </a:lnTo>
                <a:lnTo>
                  <a:pt x="868901" y="0"/>
                </a:lnTo>
                <a:lnTo>
                  <a:pt x="868901" y="485"/>
                </a:lnTo>
                <a:cubicBezTo>
                  <a:pt x="985994" y="2613"/>
                  <a:pt x="1080120" y="98326"/>
                  <a:pt x="1080120" y="216024"/>
                </a:cubicBezTo>
                <a:cubicBezTo>
                  <a:pt x="1080120" y="333722"/>
                  <a:pt x="985994" y="429435"/>
                  <a:pt x="868901" y="431564"/>
                </a:cubicBezTo>
                <a:lnTo>
                  <a:pt x="868901" y="432048"/>
                </a:lnTo>
                <a:lnTo>
                  <a:pt x="864096" y="432048"/>
                </a:lnTo>
                <a:lnTo>
                  <a:pt x="216024" y="432048"/>
                </a:lnTo>
                <a:cubicBezTo>
                  <a:pt x="96717" y="432048"/>
                  <a:pt x="0" y="335331"/>
                  <a:pt x="0" y="216024"/>
                </a:cubicBezTo>
                <a:cubicBezTo>
                  <a:pt x="0" y="96717"/>
                  <a:pt x="96717" y="0"/>
                  <a:pt x="216024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299017" y="5168550"/>
            <a:ext cx="671888" cy="67188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grpSp>
        <p:nvGrpSpPr>
          <p:cNvPr id="24" name="组合 23"/>
          <p:cNvGrpSpPr>
            <a:grpSpLocks noChangeAspect="1"/>
          </p:cNvGrpSpPr>
          <p:nvPr/>
        </p:nvGrpSpPr>
        <p:grpSpPr>
          <a:xfrm flipH="1">
            <a:off x="3347696" y="4951628"/>
            <a:ext cx="1720033" cy="1105735"/>
            <a:chOff x="2339752" y="1772816"/>
            <a:chExt cx="2016224" cy="1296144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5" name="弧形 24"/>
            <p:cNvSpPr/>
            <p:nvPr/>
          </p:nvSpPr>
          <p:spPr>
            <a:xfrm>
              <a:off x="2339752" y="1772816"/>
              <a:ext cx="1296144" cy="1296144"/>
            </a:xfrm>
            <a:prstGeom prst="arc">
              <a:avLst>
                <a:gd name="adj1" fmla="val 16200000"/>
                <a:gd name="adj2" fmla="val 5554345"/>
              </a:avLst>
            </a:prstGeom>
            <a:noFill/>
            <a:ln w="19050">
              <a:solidFill>
                <a:schemeClr val="accent2">
                  <a:lumMod val="60000"/>
                  <a:lumOff val="4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3635896" y="2420888"/>
              <a:ext cx="720080" cy="0"/>
            </a:xfrm>
            <a:prstGeom prst="line">
              <a:avLst/>
            </a:prstGeom>
            <a:grpFill/>
            <a:ln w="19050">
              <a:solidFill>
                <a:schemeClr val="accent2">
                  <a:lumMod val="60000"/>
                  <a:lumOff val="4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37"/>
          <p:cNvSpPr txBox="1"/>
          <p:nvPr/>
        </p:nvSpPr>
        <p:spPr>
          <a:xfrm>
            <a:off x="4302217" y="5217316"/>
            <a:ext cx="655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FFFFFF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03</a:t>
            </a:r>
            <a:endParaRPr lang="zh-CN" altLang="en-US" sz="3200">
              <a:solidFill>
                <a:srgbClr val="FFFFFF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 flipH="1">
            <a:off x="7043079" y="5171110"/>
            <a:ext cx="0" cy="806266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hape 63"/>
          <p:cNvSpPr/>
          <p:nvPr>
            <p:custDataLst>
              <p:tags r:id="rId9"/>
            </p:custDataLst>
          </p:nvPr>
        </p:nvSpPr>
        <p:spPr>
          <a:xfrm>
            <a:off x="7476490" y="5379085"/>
            <a:ext cx="3095625" cy="69850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/>
          <a:p>
            <a:pPr defTabSz="1087755">
              <a:lnSpc>
                <a:spcPct val="150000"/>
              </a:lnSpc>
              <a:spcBef>
                <a:spcPct val="20000"/>
              </a:spcBef>
            </a:pPr>
            <a:r>
              <a:rPr lang="en-US" altLang="zh-CN" sz="1200"/>
              <a:t>UCI Beijing PM2.5 Data Set (2010-2014)</a:t>
            </a:r>
            <a:r>
              <a:rPr lang="zh-CN" altLang="en-US" sz="1200"/>
              <a:t>。</a:t>
            </a:r>
            <a:endParaRPr lang="zh-CN" altLang="en-US" sz="1200"/>
          </a:p>
          <a:p>
            <a:pPr defTabSz="1087755"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/>
              <a:t>数据量</a:t>
            </a:r>
            <a:r>
              <a:rPr lang="en-US" altLang="zh-CN" sz="1200"/>
              <a:t> &lt; 10MB</a:t>
            </a:r>
            <a:r>
              <a:rPr lang="zh-CN" altLang="en-US" sz="1200"/>
              <a:t>（符合课程轻量化要求）。</a:t>
            </a:r>
            <a:endParaRPr lang="zh-CN" altLang="en-US" sz="1200"/>
          </a:p>
        </p:txBody>
      </p:sp>
      <p:sp>
        <p:nvSpPr>
          <p:cNvPr id="49" name="TextBox 15"/>
          <p:cNvSpPr txBox="1"/>
          <p:nvPr>
            <p:custDataLst>
              <p:tags r:id="rId10"/>
            </p:custDataLst>
          </p:nvPr>
        </p:nvSpPr>
        <p:spPr>
          <a:xfrm>
            <a:off x="7476509" y="5070054"/>
            <a:ext cx="2533493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数据来源：</a:t>
            </a:r>
            <a:endParaRPr lang="zh-CN" altLang="en-US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0" name="Rectangle 7"/>
          <p:cNvSpPr/>
          <p:nvPr/>
        </p:nvSpPr>
        <p:spPr>
          <a:xfrm>
            <a:off x="4331335" y="297180"/>
            <a:ext cx="352933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rPr>
              <a:t>项目背景与目标</a:t>
            </a:r>
            <a:endParaRPr lang="en-GB" altLang="zh-CN" sz="2800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2009344"/>
            <a:ext cx="12192000" cy="3374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4505" y="2111375"/>
            <a:ext cx="3845560" cy="2122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/>
              <a:t>技术栈</a:t>
            </a:r>
            <a:endParaRPr lang="zh-CN" altLang="en-US" sz="2400" b="1"/>
          </a:p>
          <a:p>
            <a:pPr>
              <a:lnSpc>
                <a:spcPct val="150000"/>
              </a:lnSpc>
            </a:pPr>
            <a:r>
              <a:rPr lang="zh-CN" altLang="en-US" sz="1600"/>
              <a:t>开发框架：</a:t>
            </a:r>
            <a:r>
              <a:rPr lang="en-US" altLang="zh-CN" sz="1600"/>
              <a:t> Streamlit </a:t>
            </a:r>
            <a:r>
              <a:rPr lang="zh-CN" altLang="en-US" sz="1600"/>
              <a:t>交互式</a:t>
            </a:r>
            <a:r>
              <a:rPr lang="en-US" altLang="zh-CN" sz="1600"/>
              <a:t>Web</a:t>
            </a:r>
            <a:r>
              <a:rPr lang="zh-CN" altLang="en-US" sz="1600"/>
              <a:t>应用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统计建模：</a:t>
            </a:r>
            <a:r>
              <a:rPr lang="en-US" altLang="zh-CN" sz="1600"/>
              <a:t> statsmodels</a:t>
            </a:r>
            <a:r>
              <a:rPr lang="zh-CN" altLang="en-US" sz="1600"/>
              <a:t>（</a:t>
            </a:r>
            <a:r>
              <a:rPr lang="en-US" altLang="zh-CN" sz="1600"/>
              <a:t>GLM</a:t>
            </a:r>
            <a:r>
              <a:rPr lang="zh-CN" altLang="en-US" sz="1600"/>
              <a:t>）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数据处理：</a:t>
            </a:r>
            <a:r>
              <a:rPr lang="en-US" altLang="zh-CN" sz="1600"/>
              <a:t> pandas</a:t>
            </a:r>
            <a:r>
              <a:rPr lang="zh-CN" altLang="en-US" sz="1600"/>
              <a:t>、</a:t>
            </a:r>
            <a:r>
              <a:rPr lang="en-US" altLang="zh-CN" sz="1600"/>
              <a:t>numpy</a:t>
            </a:r>
            <a:r>
              <a:rPr lang="zh-CN" altLang="en-US" sz="1600"/>
              <a:t>、</a:t>
            </a:r>
            <a:r>
              <a:rPr lang="en-US" altLang="zh-CN" sz="1600"/>
              <a:t>scipy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可视化：</a:t>
            </a:r>
            <a:r>
              <a:rPr lang="en-US" altLang="zh-CN" sz="1600"/>
              <a:t> matplotlib</a:t>
            </a:r>
            <a:r>
              <a:rPr lang="zh-CN" altLang="en-US" sz="1600"/>
              <a:t>、</a:t>
            </a:r>
            <a:r>
              <a:rPr lang="en-US" altLang="zh-CN" sz="1600"/>
              <a:t>seaborn</a:t>
            </a:r>
            <a:r>
              <a:rPr lang="zh-CN" altLang="en-US" sz="1600"/>
              <a:t>、</a:t>
            </a:r>
            <a:r>
              <a:rPr lang="en-US" altLang="zh-CN" sz="1600"/>
              <a:t>plotly</a:t>
            </a:r>
            <a:endParaRPr lang="zh-CN" altLang="en-US" sz="1600"/>
          </a:p>
        </p:txBody>
      </p:sp>
      <p:sp>
        <p:nvSpPr>
          <p:cNvPr id="10" name="Rectangle 9"/>
          <p:cNvSpPr/>
          <p:nvPr/>
        </p:nvSpPr>
        <p:spPr>
          <a:xfrm>
            <a:off x="6982460" y="2111375"/>
            <a:ext cx="475805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/>
              <a:t>核心模块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sz="1600"/>
              <a:t>数据预处理</a:t>
            </a:r>
            <a:r>
              <a:rPr lang="en-US" altLang="zh-CN" sz="1600"/>
              <a:t> (data_preprocessing.py)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统计推断</a:t>
            </a:r>
            <a:r>
              <a:rPr lang="en-US" altLang="zh-CN" sz="1600"/>
              <a:t> (statistical_inference.py)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回归模型</a:t>
            </a:r>
            <a:r>
              <a:rPr lang="en-US" altLang="zh-CN" sz="1600"/>
              <a:t> (regression_models.py)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分类模型</a:t>
            </a:r>
            <a:r>
              <a:rPr lang="en-US" altLang="zh-CN" sz="1600"/>
              <a:t> (classification_models.py)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贝叶斯模型</a:t>
            </a:r>
            <a:r>
              <a:rPr lang="en-US" altLang="zh-CN" sz="1600"/>
              <a:t> (bayesian_models.py)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模型评估</a:t>
            </a:r>
            <a:r>
              <a:rPr lang="en-US" altLang="zh-CN" sz="1600"/>
              <a:t> (model_evaluation.py)</a:t>
            </a:r>
            <a:endParaRPr lang="en-US" altLang="zh-CN" sz="1600"/>
          </a:p>
        </p:txBody>
      </p:sp>
      <p:grpSp>
        <p:nvGrpSpPr>
          <p:cNvPr id="22" name="组合 21"/>
          <p:cNvGrpSpPr/>
          <p:nvPr/>
        </p:nvGrpSpPr>
        <p:grpSpPr>
          <a:xfrm>
            <a:off x="4331469" y="296961"/>
            <a:ext cx="3529062" cy="732015"/>
            <a:chOff x="4331469" y="296961"/>
            <a:chExt cx="3529062" cy="732015"/>
          </a:xfrm>
        </p:grpSpPr>
        <p:sp>
          <p:nvSpPr>
            <p:cNvPr id="23" name="Rectangle 7"/>
            <p:cNvSpPr/>
            <p:nvPr/>
          </p:nvSpPr>
          <p:spPr>
            <a:xfrm>
              <a:off x="4331469" y="296961"/>
              <a:ext cx="3529062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>
                  <a:latin typeface="阿里巴巴普惠体"/>
                  <a:ea typeface="字魂58号-创中黑"/>
                  <a:cs typeface="+mn-ea"/>
                  <a:sym typeface="阿里巴巴普惠体"/>
                </a:rPr>
                <a:t>系统架构与核心模块</a:t>
              </a:r>
              <a:endPara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331469" y="776246"/>
              <a:ext cx="3529062" cy="2527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endParaRPr lang="en-US" altLang="zh-CN" sz="105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>
            <p:custDataLst>
              <p:tags r:id="rId1"/>
            </p:custDataLst>
          </p:nvPr>
        </p:nvSpPr>
        <p:spPr>
          <a:xfrm>
            <a:off x="6774180" y="3208655"/>
            <a:ext cx="47034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1600"/>
              <a:t>数据清洗：</a:t>
            </a:r>
            <a:endParaRPr lang="zh-CN" altLang="en-US" sz="1600"/>
          </a:p>
          <a:p>
            <a:pPr fontAlgn="base">
              <a:lnSpc>
                <a:spcPct val="150000"/>
              </a:lnSpc>
            </a:pPr>
            <a:r>
              <a:rPr lang="zh-CN" altLang="en-US" sz="1600"/>
              <a:t>缺失值：采用线性插值处理时间序列断点。</a:t>
            </a:r>
            <a:endParaRPr lang="zh-CN" altLang="en-US" sz="1600"/>
          </a:p>
          <a:p>
            <a:pPr fontAlgn="base">
              <a:lnSpc>
                <a:spcPct val="150000"/>
              </a:lnSpc>
            </a:pPr>
            <a:r>
              <a:rPr lang="zh-CN" altLang="en-US" sz="1600"/>
              <a:t>异常值：使用</a:t>
            </a:r>
            <a:r>
              <a:rPr lang="en-US" altLang="zh-CN" sz="1600"/>
              <a:t>3σ </a:t>
            </a:r>
            <a:r>
              <a:rPr lang="zh-CN" altLang="en-US" sz="1600"/>
              <a:t>原则和</a:t>
            </a:r>
            <a:r>
              <a:rPr lang="en-US" altLang="zh-CN" sz="1600"/>
              <a:t> IQR </a:t>
            </a:r>
            <a:r>
              <a:rPr lang="zh-CN" altLang="en-US" sz="1600"/>
              <a:t>方法剔除极端噪点。</a:t>
            </a:r>
            <a:endParaRPr lang="zh-CN" altLang="en-US" sz="1600"/>
          </a:p>
        </p:txBody>
      </p:sp>
      <p:sp>
        <p:nvSpPr>
          <p:cNvPr id="16" name="TextBox 14"/>
          <p:cNvSpPr txBox="1"/>
          <p:nvPr>
            <p:custDataLst>
              <p:tags r:id="rId2"/>
            </p:custDataLst>
          </p:nvPr>
        </p:nvSpPr>
        <p:spPr>
          <a:xfrm>
            <a:off x="6774180" y="4550410"/>
            <a:ext cx="47034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1600"/>
              <a:t>分布拟合：</a:t>
            </a:r>
            <a:endParaRPr lang="zh-CN" altLang="en-US" sz="1600"/>
          </a:p>
          <a:p>
            <a:pPr fontAlgn="base">
              <a:lnSpc>
                <a:spcPct val="150000"/>
              </a:lnSpc>
            </a:pPr>
            <a:r>
              <a:rPr lang="zh-CN" altLang="en-US" sz="1600"/>
              <a:t>发现：</a:t>
            </a:r>
            <a:r>
              <a:rPr lang="en-US" altLang="zh-CN" sz="1600"/>
              <a:t>PM2.5</a:t>
            </a:r>
            <a:r>
              <a:rPr lang="zh-CN" altLang="en-US" sz="1600"/>
              <a:t>呈现显著的右偏分布，非正态。</a:t>
            </a:r>
            <a:endParaRPr lang="zh-CN" altLang="en-US" sz="1600"/>
          </a:p>
          <a:p>
            <a:pPr fontAlgn="base">
              <a:lnSpc>
                <a:spcPct val="150000"/>
              </a:lnSpc>
            </a:pPr>
            <a:r>
              <a:rPr lang="zh-CN" altLang="en-US" sz="1600"/>
              <a:t>检验：通过</a:t>
            </a:r>
            <a:r>
              <a:rPr lang="en-US" altLang="zh-CN" sz="1600"/>
              <a:t>KS</a:t>
            </a:r>
            <a:r>
              <a:rPr lang="zh-CN" altLang="en-US" sz="1600"/>
              <a:t>检验对比，</a:t>
            </a:r>
            <a:r>
              <a:rPr lang="en-US" altLang="zh-CN" sz="1600"/>
              <a:t>Gamma</a:t>
            </a:r>
            <a:r>
              <a:rPr lang="zh-CN" altLang="en-US" sz="1600"/>
              <a:t>分布和对数正态分布拟合效果最优（为后续</a:t>
            </a:r>
            <a:r>
              <a:rPr lang="en-US" altLang="zh-CN" sz="1600"/>
              <a:t>GLM</a:t>
            </a:r>
            <a:r>
              <a:rPr lang="zh-CN" altLang="en-US" sz="1600"/>
              <a:t>建模奠定基础）。</a:t>
            </a:r>
            <a:endParaRPr lang="zh-CN" altLang="en-US" sz="1600"/>
          </a:p>
        </p:txBody>
      </p:sp>
      <p:grpSp>
        <p:nvGrpSpPr>
          <p:cNvPr id="14" name="组合 13"/>
          <p:cNvGrpSpPr/>
          <p:nvPr/>
        </p:nvGrpSpPr>
        <p:grpSpPr>
          <a:xfrm>
            <a:off x="4331469" y="296961"/>
            <a:ext cx="3529062" cy="732015"/>
            <a:chOff x="4331469" y="296961"/>
            <a:chExt cx="3529062" cy="732015"/>
          </a:xfrm>
        </p:grpSpPr>
        <p:sp>
          <p:nvSpPr>
            <p:cNvPr id="18" name="Rectangle 7"/>
            <p:cNvSpPr/>
            <p:nvPr/>
          </p:nvSpPr>
          <p:spPr>
            <a:xfrm>
              <a:off x="4331469" y="296961"/>
              <a:ext cx="3529062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>
                  <a:latin typeface="阿里巴巴普惠体"/>
                  <a:ea typeface="字魂58号-创中黑"/>
                  <a:cs typeface="+mn-ea"/>
                  <a:sym typeface="阿里巴巴普惠体"/>
                </a:rPr>
                <a:t>数据探索与预处理</a:t>
              </a:r>
              <a:endPara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331469" y="776246"/>
              <a:ext cx="3529062" cy="2527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endParaRPr lang="en-US" altLang="zh-CN" sz="105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2980"/>
            <a:ext cx="12191365" cy="20618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" y="3044825"/>
            <a:ext cx="6205855" cy="37820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>
            <p:custDataLst>
              <p:tags r:id="rId1"/>
            </p:custDataLst>
          </p:nvPr>
        </p:nvSpPr>
        <p:spPr>
          <a:xfrm>
            <a:off x="368935" y="5857875"/>
            <a:ext cx="5200015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1400"/>
              <a:t>相关性分析：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热力图展示：露点</a:t>
            </a:r>
            <a:r>
              <a:rPr lang="en-US" altLang="zh-CN" sz="1400"/>
              <a:t>(DEWP)</a:t>
            </a:r>
            <a:r>
              <a:rPr lang="zh-CN" altLang="en-US" sz="1400"/>
              <a:t>、气压</a:t>
            </a:r>
            <a:r>
              <a:rPr lang="en-US" altLang="zh-CN" sz="1400"/>
              <a:t>(PRES)</a:t>
            </a:r>
            <a:r>
              <a:rPr lang="zh-CN" altLang="en-US" sz="1400"/>
              <a:t>与</a:t>
            </a:r>
            <a:r>
              <a:rPr lang="en-US" altLang="zh-CN" sz="1400"/>
              <a:t>PM2.5</a:t>
            </a:r>
            <a:r>
              <a:rPr lang="zh-CN" altLang="en-US" sz="1400"/>
              <a:t>的相关性显著。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endParaRPr lang="zh-CN" altLang="en-US" sz="1400"/>
          </a:p>
        </p:txBody>
      </p:sp>
      <p:grpSp>
        <p:nvGrpSpPr>
          <p:cNvPr id="14" name="组合 13"/>
          <p:cNvGrpSpPr/>
          <p:nvPr/>
        </p:nvGrpSpPr>
        <p:grpSpPr>
          <a:xfrm>
            <a:off x="4331469" y="296961"/>
            <a:ext cx="3529062" cy="732015"/>
            <a:chOff x="4331469" y="296961"/>
            <a:chExt cx="3529062" cy="732015"/>
          </a:xfrm>
        </p:grpSpPr>
        <p:sp>
          <p:nvSpPr>
            <p:cNvPr id="18" name="Rectangle 7"/>
            <p:cNvSpPr/>
            <p:nvPr/>
          </p:nvSpPr>
          <p:spPr>
            <a:xfrm>
              <a:off x="4331469" y="296961"/>
              <a:ext cx="3529062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>
                  <a:latin typeface="阿里巴巴普惠体"/>
                  <a:ea typeface="字魂58号-创中黑"/>
                  <a:cs typeface="+mn-ea"/>
                  <a:sym typeface="阿里巴巴普惠体"/>
                </a:rPr>
                <a:t>统计推断与特征选择</a:t>
              </a:r>
              <a:endPara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331469" y="776246"/>
              <a:ext cx="3529062" cy="2527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endParaRPr lang="en-US" altLang="zh-CN" sz="105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30" y="887730"/>
            <a:ext cx="3844925" cy="48558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730" y="945515"/>
            <a:ext cx="5664835" cy="39484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67730" y="4827905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lnSpc>
                <a:spcPct val="150000"/>
              </a:lnSpc>
            </a:pPr>
            <a:r>
              <a:rPr lang="zh-CN" altLang="en-US" sz="1400">
                <a:sym typeface="+mn-ea"/>
              </a:rPr>
              <a:t>假设检验：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en-US" altLang="zh-CN" sz="1400">
                <a:sym typeface="+mn-ea"/>
              </a:rPr>
              <a:t>ANOVA/T</a:t>
            </a:r>
            <a:r>
              <a:rPr lang="zh-CN" altLang="en-US" sz="1400">
                <a:sym typeface="+mn-ea"/>
              </a:rPr>
              <a:t>检验：验证不同风向（如</a:t>
            </a:r>
            <a:r>
              <a:rPr lang="en-US" altLang="zh-CN" sz="1400">
                <a:sym typeface="+mn-ea"/>
              </a:rPr>
              <a:t>NW vs SE</a:t>
            </a:r>
            <a:r>
              <a:rPr lang="zh-CN" altLang="en-US" sz="1400">
                <a:sym typeface="+mn-ea"/>
              </a:rPr>
              <a:t>）下</a:t>
            </a:r>
            <a:r>
              <a:rPr lang="en-US" altLang="zh-CN" sz="1400">
                <a:sym typeface="+mn-ea"/>
              </a:rPr>
              <a:t>PM2.5</a:t>
            </a:r>
            <a:r>
              <a:rPr lang="zh-CN" altLang="en-US" sz="1400">
                <a:sym typeface="+mn-ea"/>
              </a:rPr>
              <a:t>均值是否存在显著差异。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>
                <a:sym typeface="+mn-ea"/>
              </a:rPr>
              <a:t>特征选择：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en-US" altLang="zh-CN" sz="1400">
                <a:sym typeface="+mn-ea"/>
              </a:rPr>
              <a:t>Lasso</a:t>
            </a:r>
            <a:r>
              <a:rPr lang="zh-CN" altLang="en-US" sz="1400">
                <a:sym typeface="+mn-ea"/>
              </a:rPr>
              <a:t>回归：利用</a:t>
            </a:r>
            <a:r>
              <a:rPr lang="en-US" altLang="zh-CN" sz="1400">
                <a:sym typeface="+mn-ea"/>
              </a:rPr>
              <a:t>L1</a:t>
            </a:r>
            <a:r>
              <a:rPr lang="zh-CN" altLang="en-US" sz="1400">
                <a:sym typeface="+mn-ea"/>
              </a:rPr>
              <a:t>正则化将非重要变量系数压缩为</a:t>
            </a:r>
            <a:r>
              <a:rPr lang="en-US" altLang="zh-CN" sz="1400">
                <a:sym typeface="+mn-ea"/>
              </a:rPr>
              <a:t>0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>
                <a:sym typeface="+mn-ea"/>
              </a:rPr>
              <a:t>结果：自动筛选出对空气质量影响最大的关键气象因子，去除冗余特征。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>
            <p:custDataLst>
              <p:tags r:id="rId1"/>
            </p:custDataLst>
          </p:nvPr>
        </p:nvSpPr>
        <p:spPr>
          <a:xfrm>
            <a:off x="80010" y="4642485"/>
            <a:ext cx="8838565" cy="2212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1400"/>
              <a:t>模型体系：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基准模型：</a:t>
            </a:r>
            <a:r>
              <a:rPr lang="en-US" altLang="zh-CN" sz="1400"/>
              <a:t>OLS</a:t>
            </a:r>
            <a:r>
              <a:rPr lang="zh-CN" altLang="en-US" sz="1400"/>
              <a:t>（普通最小二乘法）。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改进模型：</a:t>
            </a:r>
            <a:r>
              <a:rPr lang="en-US" altLang="zh-CN" sz="1400"/>
              <a:t>Ridge/Lasso</a:t>
            </a:r>
            <a:r>
              <a:rPr lang="zh-CN" altLang="en-US" sz="1400"/>
              <a:t>（解决多重共线性）、</a:t>
            </a:r>
            <a:r>
              <a:rPr lang="en-US" altLang="zh-CN" sz="1400"/>
              <a:t>GLM</a:t>
            </a:r>
            <a:r>
              <a:rPr lang="zh-CN" altLang="en-US" sz="1400"/>
              <a:t>（广义线性模型）。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核心亮点：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en-US" altLang="zh-CN" sz="1400"/>
              <a:t>GLM</a:t>
            </a:r>
            <a:r>
              <a:rPr lang="zh-CN" altLang="en-US" sz="1400"/>
              <a:t>应用：针对</a:t>
            </a:r>
            <a:r>
              <a:rPr lang="en-US" altLang="zh-CN" sz="1400"/>
              <a:t>PM2.5</a:t>
            </a:r>
            <a:r>
              <a:rPr lang="zh-CN" altLang="en-US" sz="1400"/>
              <a:t>非负且右偏的特性，采用</a:t>
            </a:r>
            <a:r>
              <a:rPr lang="en-US" altLang="zh-CN" sz="1400"/>
              <a:t>Gamma</a:t>
            </a:r>
            <a:r>
              <a:rPr lang="zh-CN" altLang="en-US" sz="1400"/>
              <a:t>分布族</a:t>
            </a:r>
            <a:r>
              <a:rPr lang="en-US" altLang="zh-CN" sz="1400"/>
              <a:t> + Log</a:t>
            </a:r>
            <a:r>
              <a:rPr lang="zh-CN" altLang="en-US" sz="1400"/>
              <a:t>链接函数，比</a:t>
            </a:r>
            <a:r>
              <a:rPr lang="en-US" altLang="zh-CN" sz="1400"/>
              <a:t>OLS</a:t>
            </a:r>
            <a:r>
              <a:rPr lang="zh-CN" altLang="en-US" sz="1400"/>
              <a:t>更符合实际物理意义。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贝叶斯回归：引入先验分布，不仅给出预测值，还提供了参数的后验分布和置信区间，量化了模型的不确定性。</a:t>
            </a:r>
            <a:endParaRPr lang="zh-CN" altLang="en-US" sz="1400"/>
          </a:p>
        </p:txBody>
      </p:sp>
      <p:grpSp>
        <p:nvGrpSpPr>
          <p:cNvPr id="14" name="组合 13"/>
          <p:cNvGrpSpPr/>
          <p:nvPr/>
        </p:nvGrpSpPr>
        <p:grpSpPr>
          <a:xfrm>
            <a:off x="4331469" y="296961"/>
            <a:ext cx="3529062" cy="732015"/>
            <a:chOff x="4331469" y="296961"/>
            <a:chExt cx="3529062" cy="732015"/>
          </a:xfrm>
        </p:grpSpPr>
        <p:sp>
          <p:nvSpPr>
            <p:cNvPr id="18" name="Rectangle 7"/>
            <p:cNvSpPr/>
            <p:nvPr/>
          </p:nvSpPr>
          <p:spPr>
            <a:xfrm>
              <a:off x="4331469" y="296961"/>
              <a:ext cx="3529062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>
                  <a:latin typeface="阿里巴巴普惠体"/>
                  <a:ea typeface="字魂58号-创中黑"/>
                  <a:cs typeface="+mn-ea"/>
                  <a:sym typeface="阿里巴巴普惠体"/>
                </a:rPr>
                <a:t>回归建模与归因分析</a:t>
              </a:r>
              <a:endPara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331469" y="776246"/>
              <a:ext cx="3529062" cy="2527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endParaRPr lang="en-US" altLang="zh-CN" sz="105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810"/>
            <a:ext cx="6758940" cy="35058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1400" r="2931"/>
          <a:stretch>
            <a:fillRect/>
          </a:stretch>
        </p:blipFill>
        <p:spPr>
          <a:xfrm>
            <a:off x="6758940" y="892810"/>
            <a:ext cx="5433060" cy="40760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>
            <p:custDataLst>
              <p:tags r:id="rId1"/>
            </p:custDataLst>
          </p:nvPr>
        </p:nvSpPr>
        <p:spPr>
          <a:xfrm>
            <a:off x="6096635" y="3429000"/>
            <a:ext cx="5411470" cy="3373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1400"/>
              <a:t>任务：将连续的</a:t>
            </a:r>
            <a:r>
              <a:rPr lang="en-US" altLang="zh-CN" sz="1400"/>
              <a:t>PM2.5</a:t>
            </a:r>
            <a:r>
              <a:rPr lang="zh-CN" altLang="en-US" sz="1400"/>
              <a:t>浓度转化为离散的空气质量等级（优良、轻度、重度）。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对比模型：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en-US" altLang="zh-CN" sz="1400"/>
              <a:t>Logistic</a:t>
            </a:r>
            <a:r>
              <a:rPr lang="zh-CN" altLang="en-US" sz="1400"/>
              <a:t>回归：提供线性的分类边界。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朴素贝叶斯：基于概率生成模型进行分类。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核心亮点：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模型对决：对比</a:t>
            </a:r>
            <a:r>
              <a:rPr lang="en-US" altLang="zh-CN" sz="1400"/>
              <a:t>“</a:t>
            </a:r>
            <a:r>
              <a:rPr lang="zh-CN" altLang="en-US" sz="1400"/>
              <a:t>线性边界</a:t>
            </a:r>
            <a:r>
              <a:rPr lang="en-US" altLang="zh-CN" sz="1400"/>
              <a:t>”</a:t>
            </a:r>
            <a:r>
              <a:rPr lang="zh-CN" altLang="en-US" sz="1400"/>
              <a:t>（</a:t>
            </a:r>
            <a:r>
              <a:rPr lang="en-US" altLang="zh-CN" sz="1400"/>
              <a:t>Logistic</a:t>
            </a:r>
            <a:r>
              <a:rPr lang="zh-CN" altLang="en-US" sz="1400"/>
              <a:t>）与</a:t>
            </a:r>
            <a:r>
              <a:rPr lang="en-US" altLang="zh-CN" sz="1400"/>
              <a:t>“</a:t>
            </a:r>
            <a:r>
              <a:rPr lang="zh-CN" altLang="en-US" sz="1400"/>
              <a:t>概率生成</a:t>
            </a:r>
            <a:r>
              <a:rPr lang="en-US" altLang="zh-CN" sz="1400"/>
              <a:t>”</a:t>
            </a:r>
            <a:r>
              <a:rPr lang="zh-CN" altLang="en-US" sz="1400"/>
              <a:t>（</a:t>
            </a:r>
            <a:r>
              <a:rPr lang="en-US" altLang="zh-CN" sz="1400"/>
              <a:t>NB</a:t>
            </a:r>
            <a:r>
              <a:rPr lang="zh-CN" altLang="en-US" sz="1400"/>
              <a:t>）在空气质量数据上的表现差异，探讨特征独立性假设的有效性。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多维评估：引入</a:t>
            </a:r>
            <a:r>
              <a:rPr lang="en-US" altLang="zh-CN" sz="1400"/>
              <a:t> ROC</a:t>
            </a:r>
            <a:r>
              <a:rPr lang="zh-CN" altLang="en-US" sz="1400"/>
              <a:t>曲线</a:t>
            </a:r>
            <a:r>
              <a:rPr lang="en-US" altLang="zh-CN" sz="1400"/>
              <a:t> </a:t>
            </a:r>
            <a:r>
              <a:rPr lang="zh-CN" altLang="en-US" sz="1400"/>
              <a:t>与</a:t>
            </a:r>
            <a:r>
              <a:rPr lang="en-US" altLang="zh-CN" sz="1400"/>
              <a:t> AUC</a:t>
            </a:r>
            <a:r>
              <a:rPr lang="zh-CN" altLang="en-US" sz="1400"/>
              <a:t>值，不仅看准确率，更关注模型在不同阈值下区分</a:t>
            </a:r>
            <a:r>
              <a:rPr lang="en-US" altLang="zh-CN" sz="1400"/>
              <a:t>“</a:t>
            </a:r>
            <a:r>
              <a:rPr lang="zh-CN" altLang="en-US" sz="1400"/>
              <a:t>重污染</a:t>
            </a:r>
            <a:r>
              <a:rPr lang="en-US" altLang="zh-CN" sz="1400"/>
              <a:t>”</a:t>
            </a:r>
            <a:r>
              <a:rPr lang="zh-CN" altLang="en-US" sz="1400"/>
              <a:t>与</a:t>
            </a:r>
            <a:r>
              <a:rPr lang="en-US" altLang="zh-CN" sz="1400"/>
              <a:t>“</a:t>
            </a:r>
            <a:r>
              <a:rPr lang="zh-CN" altLang="en-US" sz="1400"/>
              <a:t>非重污染</a:t>
            </a:r>
            <a:r>
              <a:rPr lang="en-US" altLang="zh-CN" sz="1400"/>
              <a:t>”</a:t>
            </a:r>
            <a:r>
              <a:rPr lang="zh-CN" altLang="en-US" sz="1400"/>
              <a:t>的能力。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endParaRPr lang="zh-CN" altLang="en-US" sz="1400"/>
          </a:p>
        </p:txBody>
      </p:sp>
      <p:grpSp>
        <p:nvGrpSpPr>
          <p:cNvPr id="14" name="组合 13"/>
          <p:cNvGrpSpPr/>
          <p:nvPr/>
        </p:nvGrpSpPr>
        <p:grpSpPr>
          <a:xfrm>
            <a:off x="4331469" y="296961"/>
            <a:ext cx="3529062" cy="732015"/>
            <a:chOff x="4331469" y="296961"/>
            <a:chExt cx="3529062" cy="732015"/>
          </a:xfrm>
        </p:grpSpPr>
        <p:sp>
          <p:nvSpPr>
            <p:cNvPr id="18" name="Rectangle 7"/>
            <p:cNvSpPr/>
            <p:nvPr/>
          </p:nvSpPr>
          <p:spPr>
            <a:xfrm>
              <a:off x="4331469" y="296961"/>
              <a:ext cx="3529062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>
                  <a:latin typeface="阿里巴巴普惠体"/>
                  <a:ea typeface="字魂58号-创中黑"/>
                  <a:cs typeface="+mn-ea"/>
                  <a:sym typeface="阿里巴巴普惠体"/>
                </a:rPr>
                <a:t>分类模型与状态识别</a:t>
              </a:r>
              <a:endPara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331469" y="776246"/>
              <a:ext cx="3529062" cy="2527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endParaRPr lang="en-US" altLang="zh-CN" sz="105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70" y="875030"/>
            <a:ext cx="5551170" cy="2677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0945"/>
            <a:ext cx="6097270" cy="51104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>
            <p:custDataLst>
              <p:tags r:id="rId1"/>
            </p:custDataLst>
          </p:nvPr>
        </p:nvSpPr>
        <p:spPr>
          <a:xfrm>
            <a:off x="8539480" y="1990090"/>
            <a:ext cx="3246755" cy="3662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1400"/>
              <a:t>系统展示：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基于</a:t>
            </a:r>
            <a:r>
              <a:rPr lang="en-US" altLang="zh-CN" sz="1400"/>
              <a:t> Streamlit </a:t>
            </a:r>
            <a:r>
              <a:rPr lang="zh-CN" altLang="en-US" sz="1400"/>
              <a:t>开发的交互式</a:t>
            </a:r>
            <a:r>
              <a:rPr lang="en-US" altLang="zh-CN" sz="1400"/>
              <a:t>Web</a:t>
            </a:r>
            <a:r>
              <a:rPr lang="zh-CN" altLang="en-US" sz="1400"/>
              <a:t>系统。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功能模块：数据上传</a:t>
            </a:r>
            <a:r>
              <a:rPr lang="en-US" altLang="zh-CN" sz="1400"/>
              <a:t> -&gt; </a:t>
            </a:r>
            <a:r>
              <a:rPr lang="zh-CN" altLang="en-US" sz="1400"/>
              <a:t>探索分析</a:t>
            </a:r>
            <a:r>
              <a:rPr lang="en-US" altLang="zh-CN" sz="1400"/>
              <a:t> -&gt; </a:t>
            </a:r>
            <a:r>
              <a:rPr lang="zh-CN" altLang="en-US" sz="1400"/>
              <a:t>模型训练</a:t>
            </a:r>
            <a:r>
              <a:rPr lang="en-US" altLang="zh-CN" sz="1400"/>
              <a:t> -&gt; </a:t>
            </a:r>
            <a:r>
              <a:rPr lang="zh-CN" altLang="en-US" sz="1400"/>
              <a:t>评估报告。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项目总结：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成功构建了包含回归、分类、时序、贝叶斯等多维度的统计分析框架。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验证了统计方法在环境数据归因和解释上的独特优势。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endParaRPr lang="en-US" altLang="zh-CN" sz="1400"/>
          </a:p>
        </p:txBody>
      </p:sp>
      <p:grpSp>
        <p:nvGrpSpPr>
          <p:cNvPr id="14" name="组合 13"/>
          <p:cNvGrpSpPr/>
          <p:nvPr/>
        </p:nvGrpSpPr>
        <p:grpSpPr>
          <a:xfrm>
            <a:off x="4331469" y="296961"/>
            <a:ext cx="3529062" cy="732015"/>
            <a:chOff x="4331469" y="296961"/>
            <a:chExt cx="3529062" cy="732015"/>
          </a:xfrm>
        </p:grpSpPr>
        <p:sp>
          <p:nvSpPr>
            <p:cNvPr id="18" name="Rectangle 7"/>
            <p:cNvSpPr/>
            <p:nvPr/>
          </p:nvSpPr>
          <p:spPr>
            <a:xfrm>
              <a:off x="4331469" y="296961"/>
              <a:ext cx="3529062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>
                  <a:latin typeface="阿里巴巴普惠体"/>
                  <a:ea typeface="字魂58号-创中黑"/>
                  <a:cs typeface="+mn-ea"/>
                  <a:sym typeface="阿里巴巴普惠体"/>
                </a:rPr>
                <a:t>系统演示与总结</a:t>
              </a:r>
              <a:endPara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331469" y="776246"/>
              <a:ext cx="3529062" cy="2527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endParaRPr lang="en-US" altLang="zh-CN" sz="105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" y="897255"/>
            <a:ext cx="8378825" cy="58553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>
            <p:custDataLst>
              <p:tags r:id="rId1"/>
            </p:custDataLst>
          </p:nvPr>
        </p:nvSpPr>
        <p:spPr>
          <a:xfrm>
            <a:off x="8576310" y="1746250"/>
            <a:ext cx="3215640" cy="3875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1400"/>
              <a:t>系统展示：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基于</a:t>
            </a:r>
            <a:r>
              <a:rPr lang="en-US" altLang="zh-CN" sz="1400"/>
              <a:t> Streamlit </a:t>
            </a:r>
            <a:r>
              <a:rPr lang="zh-CN" altLang="en-US" sz="1400"/>
              <a:t>开发的交互式</a:t>
            </a:r>
            <a:r>
              <a:rPr lang="en-US" altLang="zh-CN" sz="1400"/>
              <a:t>Web</a:t>
            </a:r>
            <a:r>
              <a:rPr lang="zh-CN" altLang="en-US" sz="1400"/>
              <a:t>系统。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功能模块：数据上传</a:t>
            </a:r>
            <a:r>
              <a:rPr lang="en-US" altLang="zh-CN" sz="1400"/>
              <a:t> -&gt; </a:t>
            </a:r>
            <a:r>
              <a:rPr lang="zh-CN" altLang="en-US" sz="1400"/>
              <a:t>探索分析</a:t>
            </a:r>
            <a:r>
              <a:rPr lang="en-US" altLang="zh-CN" sz="1400"/>
              <a:t> -&gt; </a:t>
            </a:r>
            <a:r>
              <a:rPr lang="zh-CN" altLang="en-US" sz="1400"/>
              <a:t>模型训练</a:t>
            </a:r>
            <a:r>
              <a:rPr lang="en-US" altLang="zh-CN" sz="1400"/>
              <a:t> -&gt; </a:t>
            </a:r>
            <a:r>
              <a:rPr lang="zh-CN" altLang="en-US" sz="1400"/>
              <a:t>评估报告。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项目总结：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成功构建了包含回归、分类、时序、贝叶斯等多维度的统计分析框架。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r>
              <a:rPr lang="zh-CN" altLang="en-US" sz="1400"/>
              <a:t>验证了统计方法在环境数据归因和解释上的独特优势。</a:t>
            </a:r>
            <a:endParaRPr lang="zh-CN" altLang="en-US" sz="1400"/>
          </a:p>
          <a:p>
            <a:pPr fontAlgn="base">
              <a:lnSpc>
                <a:spcPct val="150000"/>
              </a:lnSpc>
            </a:pPr>
            <a:endParaRPr lang="en-US" altLang="zh-CN" sz="1400"/>
          </a:p>
        </p:txBody>
      </p:sp>
      <p:grpSp>
        <p:nvGrpSpPr>
          <p:cNvPr id="14" name="组合 13"/>
          <p:cNvGrpSpPr/>
          <p:nvPr/>
        </p:nvGrpSpPr>
        <p:grpSpPr>
          <a:xfrm>
            <a:off x="4331469" y="296961"/>
            <a:ext cx="3529062" cy="732015"/>
            <a:chOff x="4331469" y="296961"/>
            <a:chExt cx="3529062" cy="732015"/>
          </a:xfrm>
        </p:grpSpPr>
        <p:sp>
          <p:nvSpPr>
            <p:cNvPr id="18" name="Rectangle 7"/>
            <p:cNvSpPr/>
            <p:nvPr/>
          </p:nvSpPr>
          <p:spPr>
            <a:xfrm>
              <a:off x="4331469" y="296961"/>
              <a:ext cx="3529062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>
                  <a:latin typeface="阿里巴巴普惠体"/>
                  <a:ea typeface="字魂58号-创中黑"/>
                  <a:cs typeface="+mn-ea"/>
                  <a:sym typeface="阿里巴巴普惠体"/>
                </a:rPr>
                <a:t>系统演示与总结</a:t>
              </a:r>
              <a:endPara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331469" y="776246"/>
              <a:ext cx="3529062" cy="2527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endParaRPr lang="en-US" altLang="zh-CN" sz="105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5" y="918210"/>
            <a:ext cx="8428355" cy="56559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1601470"/>
            <a:ext cx="12192000" cy="4239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3120" y="1647825"/>
            <a:ext cx="4921250" cy="42652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实际应用场景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🏛</a:t>
            </a:r>
            <a:r>
              <a:rPr lang="en-US" altLang="en-US" sz="1600"/>
              <a:t>️</a:t>
            </a:r>
            <a:r>
              <a:rPr lang="en-US" altLang="zh-CN" sz="1600"/>
              <a:t> </a:t>
            </a:r>
            <a:r>
              <a:rPr lang="zh-CN" altLang="en-US" sz="1600"/>
              <a:t>环保决策支持：基于</a:t>
            </a:r>
            <a:r>
              <a:rPr lang="en-US" altLang="zh-CN" sz="1600"/>
              <a:t> GLM</a:t>
            </a:r>
            <a:r>
              <a:rPr lang="zh-CN" altLang="en-US" sz="1600"/>
              <a:t>归因分析</a:t>
            </a:r>
            <a:r>
              <a:rPr lang="en-US" altLang="zh-CN" sz="1600"/>
              <a:t> </a:t>
            </a:r>
            <a:r>
              <a:rPr lang="zh-CN" altLang="en-US" sz="1600"/>
              <a:t>结果（如发现</a:t>
            </a:r>
            <a:r>
              <a:rPr lang="en-US" altLang="zh-CN" sz="1600"/>
              <a:t>“</a:t>
            </a:r>
            <a:r>
              <a:rPr lang="zh-CN" altLang="en-US" sz="1600"/>
              <a:t>露点</a:t>
            </a:r>
            <a:r>
              <a:rPr lang="en-US" altLang="zh-CN" sz="1600"/>
              <a:t>”</a:t>
            </a:r>
            <a:r>
              <a:rPr lang="zh-CN" altLang="en-US" sz="1600"/>
              <a:t>和</a:t>
            </a:r>
            <a:r>
              <a:rPr lang="en-US" altLang="zh-CN" sz="1600"/>
              <a:t>“</a:t>
            </a:r>
            <a:r>
              <a:rPr lang="zh-CN" altLang="en-US" sz="1600"/>
              <a:t>风速</a:t>
            </a:r>
            <a:r>
              <a:rPr lang="en-US" altLang="zh-CN" sz="1600"/>
              <a:t>”</a:t>
            </a:r>
            <a:r>
              <a:rPr lang="zh-CN" altLang="en-US" sz="1600"/>
              <a:t>是关键因子），建议在特定气象条件下（如高湿静稳天气）提前启动区域管控措施。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😷</a:t>
            </a:r>
            <a:r>
              <a:rPr lang="en-US" altLang="zh-CN" sz="1600"/>
              <a:t> </a:t>
            </a:r>
            <a:r>
              <a:rPr lang="zh-CN" altLang="en-US" sz="1600"/>
              <a:t>公众健康预警：利用</a:t>
            </a:r>
            <a:r>
              <a:rPr lang="en-US" altLang="zh-CN" sz="1600"/>
              <a:t> </a:t>
            </a:r>
            <a:r>
              <a:rPr lang="zh-CN" altLang="en-US" sz="1600"/>
              <a:t>分类模型（</a:t>
            </a:r>
            <a:r>
              <a:rPr lang="en-US" altLang="zh-CN" sz="1600"/>
              <a:t>Logistic/Naive Bayes</a:t>
            </a:r>
            <a:r>
              <a:rPr lang="zh-CN" altLang="en-US" sz="1600"/>
              <a:t>）的高准确率（</a:t>
            </a:r>
            <a:r>
              <a:rPr lang="en-US" altLang="zh-CN" sz="1600"/>
              <a:t>AUC &gt; 0.8</a:t>
            </a:r>
            <a:r>
              <a:rPr lang="zh-CN" altLang="en-US" sz="1600"/>
              <a:t>），为市民提供精准的出行建议（如：预测为</a:t>
            </a:r>
            <a:r>
              <a:rPr lang="en-US" altLang="zh-CN" sz="1600"/>
              <a:t>“</a:t>
            </a:r>
            <a:r>
              <a:rPr lang="zh-CN" altLang="en-US" sz="1600"/>
              <a:t>重度污染</a:t>
            </a:r>
            <a:r>
              <a:rPr lang="en-US" altLang="zh-CN" sz="1600"/>
              <a:t>”</a:t>
            </a:r>
            <a:r>
              <a:rPr lang="zh-CN" altLang="en-US" sz="1600"/>
              <a:t>时自动推送防护提醒）。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🏭</a:t>
            </a:r>
            <a:r>
              <a:rPr lang="en-US" altLang="zh-CN" sz="1600"/>
              <a:t> </a:t>
            </a:r>
            <a:r>
              <a:rPr lang="zh-CN" altLang="en-US" sz="1600"/>
              <a:t>污染源辅助定位：结合统计推断（</a:t>
            </a:r>
            <a:r>
              <a:rPr lang="en-US" altLang="zh-CN" sz="1600"/>
              <a:t>ANOVA</a:t>
            </a:r>
            <a:r>
              <a:rPr lang="zh-CN" altLang="en-US" sz="1600"/>
              <a:t>），识别不同风向下的污染差异（如东南风向污染显著），辅助定位潜在的工业排放源方向。</a:t>
            </a:r>
            <a:endParaRPr lang="zh-CN" altLang="en-US" sz="1600"/>
          </a:p>
        </p:txBody>
      </p:sp>
      <p:sp>
        <p:nvSpPr>
          <p:cNvPr id="10" name="Rectangle 9"/>
          <p:cNvSpPr/>
          <p:nvPr/>
        </p:nvSpPr>
        <p:spPr>
          <a:xfrm>
            <a:off x="6938645" y="1851660"/>
            <a:ext cx="4782820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未来改进方向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zh-CN" altLang="en-US" sz="1600"/>
              <a:t>🗺</a:t>
            </a:r>
            <a:r>
              <a:rPr lang="en-US" altLang="en-US" sz="1600"/>
              <a:t>️</a:t>
            </a:r>
            <a:r>
              <a:rPr lang="en-US" altLang="zh-CN" sz="1600"/>
              <a:t> </a:t>
            </a:r>
            <a:r>
              <a:rPr lang="zh-CN" altLang="en-US" sz="1600"/>
              <a:t>空间统计扩展：目前仅分析单点时间序列，未来计划引入</a:t>
            </a:r>
            <a:r>
              <a:rPr lang="en-US" altLang="zh-CN" sz="1600"/>
              <a:t> Kriging</a:t>
            </a:r>
            <a:r>
              <a:rPr lang="zh-CN" altLang="en-US" sz="1600"/>
              <a:t>插值</a:t>
            </a:r>
            <a:r>
              <a:rPr lang="en-US" altLang="zh-CN" sz="1600"/>
              <a:t> </a:t>
            </a:r>
            <a:r>
              <a:rPr lang="zh-CN" altLang="en-US" sz="1600"/>
              <a:t>或</a:t>
            </a:r>
            <a:r>
              <a:rPr lang="en-US" altLang="zh-CN" sz="1600"/>
              <a:t> </a:t>
            </a:r>
            <a:r>
              <a:rPr lang="zh-CN" altLang="en-US" sz="1600"/>
              <a:t>空间计量模型，分析京津冀区域的污染扩散路径。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📈</a:t>
            </a:r>
            <a:r>
              <a:rPr lang="en-US" altLang="zh-CN" sz="1600"/>
              <a:t> </a:t>
            </a:r>
            <a:r>
              <a:rPr lang="zh-CN" altLang="en-US" sz="1600"/>
              <a:t>数据维度增强：引入交通流量、工业用电量等社会经济指标作为外生变量，提高模型的解释力。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🔄</a:t>
            </a:r>
            <a:r>
              <a:rPr lang="en-US" altLang="zh-CN" sz="1600"/>
              <a:t> </a:t>
            </a:r>
            <a:r>
              <a:rPr lang="zh-CN" altLang="en-US" sz="1600"/>
              <a:t>实时化部署：将当前的离线</a:t>
            </a:r>
            <a:r>
              <a:rPr lang="en-US" altLang="zh-CN" sz="1600"/>
              <a:t>CSV</a:t>
            </a:r>
            <a:r>
              <a:rPr lang="zh-CN" altLang="en-US" sz="1600"/>
              <a:t>分析升级为对接</a:t>
            </a:r>
            <a:r>
              <a:rPr lang="en-US" altLang="zh-CN" sz="1600"/>
              <a:t> </a:t>
            </a:r>
            <a:r>
              <a:rPr lang="zh-CN" altLang="en-US" sz="1600"/>
              <a:t>空气质量</a:t>
            </a:r>
            <a:r>
              <a:rPr lang="en-US" altLang="zh-CN" sz="1600"/>
              <a:t>API</a:t>
            </a:r>
            <a:r>
              <a:rPr lang="zh-CN" altLang="en-US" sz="1600"/>
              <a:t>，实现秒级数据更新与实时监控。</a:t>
            </a:r>
            <a:endParaRPr lang="zh-CN" altLang="en-US" sz="1600"/>
          </a:p>
        </p:txBody>
      </p:sp>
      <p:grpSp>
        <p:nvGrpSpPr>
          <p:cNvPr id="22" name="组合 21"/>
          <p:cNvGrpSpPr/>
          <p:nvPr/>
        </p:nvGrpSpPr>
        <p:grpSpPr>
          <a:xfrm>
            <a:off x="3657734" y="296961"/>
            <a:ext cx="4876800" cy="732015"/>
            <a:chOff x="3657734" y="296961"/>
            <a:chExt cx="4876800" cy="732015"/>
          </a:xfrm>
        </p:grpSpPr>
        <p:sp>
          <p:nvSpPr>
            <p:cNvPr id="23" name="Rectangle 7"/>
            <p:cNvSpPr/>
            <p:nvPr/>
          </p:nvSpPr>
          <p:spPr>
            <a:xfrm>
              <a:off x="3657734" y="296961"/>
              <a:ext cx="4876800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800" dirty="0">
                  <a:latin typeface="阿里巴巴普惠体"/>
                  <a:ea typeface="字魂58号-创中黑"/>
                  <a:cs typeface="+mn-ea"/>
                  <a:sym typeface="阿里巴巴普惠体"/>
                </a:rPr>
                <a:t>实际应用价值与系统演进方向</a:t>
              </a:r>
              <a:endParaRPr lang="zh-CN" altLang="en-US" sz="2800" dirty="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331469" y="776246"/>
              <a:ext cx="3529062" cy="2527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endParaRPr lang="en-US" altLang="zh-CN" sz="1050">
                <a:latin typeface="阿里巴巴普惠体"/>
                <a:ea typeface="字魂58号-创中黑"/>
                <a:cs typeface="+mn-ea"/>
                <a:sym typeface="阿里巴巴普惠体"/>
              </a:endParaRPr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2910931" y="2517253"/>
            <a:ext cx="6408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dist">
              <a:defRPr/>
            </a:pPr>
            <a:r>
              <a:rPr lang="zh-CN" altLang="en-US" sz="5400" dirty="0">
                <a:latin typeface="阿里巴巴普惠体"/>
                <a:ea typeface="字魂58号-创中黑"/>
                <a:cs typeface="+mn-ea"/>
                <a:sym typeface="阿里巴巴普惠体"/>
              </a:rPr>
              <a:t>演示结束 谢谢观看</a:t>
            </a:r>
            <a:endParaRPr lang="zh-CN" altLang="en-US" sz="5400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056829" y="3793612"/>
            <a:ext cx="607834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4173688" y="4138920"/>
            <a:ext cx="3844624" cy="337185"/>
            <a:chOff x="3008566" y="4228130"/>
            <a:chExt cx="3844624" cy="337185"/>
          </a:xfrm>
          <a:noFill/>
        </p:grpSpPr>
        <p:sp>
          <p:nvSpPr>
            <p:cNvPr id="6" name="文本框 15"/>
            <p:cNvSpPr txBox="1"/>
            <p:nvPr/>
          </p:nvSpPr>
          <p:spPr>
            <a:xfrm>
              <a:off x="3008566" y="4228130"/>
              <a:ext cx="1760922" cy="3371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汇报人</a:t>
              </a:r>
              <a:r>
                <a:rPr kumimoji="0" lang="zh-CN" altLang="en-US" sz="160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：第</a:t>
              </a:r>
              <a:r>
                <a:rPr kumimoji="0" lang="en-US" sz="160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10</a:t>
              </a:r>
              <a:r>
                <a:rPr kumimoji="0" lang="zh-CN" altLang="en-US" sz="160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组</a:t>
              </a:r>
              <a:endParaRPr kumimoji="0" lang="zh-CN" altLang="en-US" sz="16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字魂58号-创中黑" pitchFamily="2" charset="-122"/>
                <a:ea typeface="字魂58号-创中黑" pitchFamily="2" charset="-122"/>
                <a:cs typeface="+mn-ea"/>
                <a:sym typeface="阿里巴巴普惠体"/>
              </a:endParaRPr>
            </a:p>
          </p:txBody>
        </p:sp>
        <p:sp>
          <p:nvSpPr>
            <p:cNvPr id="7" name="文本框 10"/>
            <p:cNvSpPr txBox="1"/>
            <p:nvPr/>
          </p:nvSpPr>
          <p:spPr>
            <a:xfrm>
              <a:off x="5092268" y="4228130"/>
              <a:ext cx="1760922" cy="3371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US" altLang="zh-CN" sz="1600" dirty="0" smtClean="0">
                  <a:latin typeface="字魂58号-创中黑" pitchFamily="2" charset="-122"/>
                  <a:ea typeface="字魂58号-创中黑" pitchFamily="2" charset="-122"/>
                  <a:cs typeface="+mn-ea"/>
                  <a:sym typeface="阿里巴巴普惠体"/>
                </a:rPr>
                <a:t>2026/01/02</a:t>
              </a:r>
              <a:endParaRPr lang="zh-CN" altLang="en-US" sz="1600" dirty="0">
                <a:latin typeface="字魂58号-创中黑" pitchFamily="2" charset="-122"/>
                <a:ea typeface="字魂58号-创中黑" pitchFamily="2" charset="-122"/>
                <a:cs typeface="+mn-ea"/>
                <a:sym typeface="阿里巴巴普惠体"/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2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3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4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5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6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7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8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9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10.xml><?xml version="1.0" encoding="utf-8"?>
<p:tagLst xmlns:p="http://schemas.openxmlformats.org/presentationml/2006/main">
  <p:tag name="KSO_WM_DIAGRAM_VIRTUALLY_FRAME" val="{&quot;height&quot;:406.204094488189,&quot;left&quot;:554.5730708661417,&quot;top&quot;:142.25062992125984,&quot;width&quot;:307.17692913385827}"/>
</p:tagLst>
</file>

<file path=ppt/tags/tag11.xml><?xml version="1.0" encoding="utf-8"?>
<p:tagLst xmlns:p="http://schemas.openxmlformats.org/presentationml/2006/main">
  <p:tag name="KSO_WM_DIAGRAM_VIRTUALLY_FRAME" val="{&quot;height&quot;:163.22937007874015,&quot;left&quot;:63.40188976377952,&quot;top&quot;:162.36692913385826,&quot;width&quot;:865.1896850393701}"/>
</p:tagLst>
</file>

<file path=ppt/tags/tag12.xml><?xml version="1.0" encoding="utf-8"?>
<p:tagLst xmlns:p="http://schemas.openxmlformats.org/presentationml/2006/main">
  <p:tag name="KSO_WM_DIAGRAM_VIRTUALLY_FRAME" val="{&quot;height&quot;:163.22937007874015,&quot;left&quot;:63.40188976377952,&quot;top&quot;:162.36692913385826,&quot;width&quot;:865.1896850393701}"/>
</p:tagLst>
</file>

<file path=ppt/tags/tag13.xml><?xml version="1.0" encoding="utf-8"?>
<p:tagLst xmlns:p="http://schemas.openxmlformats.org/presentationml/2006/main">
  <p:tag name="KSO_WM_DIAGRAM_VIRTUALLY_FRAME" val="{&quot;height&quot;:163.22937007874015,&quot;left&quot;:63.40188976377952,&quot;top&quot;:162.36692913385826,&quot;width&quot;:865.1896850393701}"/>
</p:tagLst>
</file>

<file path=ppt/tags/tag14.xml><?xml version="1.0" encoding="utf-8"?>
<p:tagLst xmlns:p="http://schemas.openxmlformats.org/presentationml/2006/main">
  <p:tag name="KSO_WM_DIAGRAM_VIRTUALLY_FRAME" val="{&quot;height&quot;:163.22937007874015,&quot;left&quot;:63.40188976377952,&quot;top&quot;:162.36692913385826,&quot;width&quot;:865.1896850393701}"/>
</p:tagLst>
</file>

<file path=ppt/tags/tag15.xml><?xml version="1.0" encoding="utf-8"?>
<p:tagLst xmlns:p="http://schemas.openxmlformats.org/presentationml/2006/main">
  <p:tag name="KSO_WM_DIAGRAM_VIRTUALLY_FRAME" val="{&quot;height&quot;:163.22937007874015,&quot;left&quot;:63.40188976377952,&quot;top&quot;:162.36692913385826,&quot;width&quot;:865.1896850393701}"/>
</p:tagLst>
</file>

<file path=ppt/tags/tag16.xml><?xml version="1.0" encoding="utf-8"?>
<p:tagLst xmlns:p="http://schemas.openxmlformats.org/presentationml/2006/main">
  <p:tag name="KSO_WM_DIAGRAM_VIRTUALLY_FRAME" val="{&quot;height&quot;:163.22937007874015,&quot;left&quot;:63.40188976377952,&quot;top&quot;:162.36692913385826,&quot;width&quot;:865.1896850393701}"/>
</p:tagLst>
</file>

<file path=ppt/tags/tag17.xml><?xml version="1.0" encoding="utf-8"?>
<p:tagLst xmlns:p="http://schemas.openxmlformats.org/presentationml/2006/main">
  <p:tag name="KSO_WM_DIAGRAM_VIRTUALLY_FRAME" val="{&quot;height&quot;:163.22937007874015,&quot;left&quot;:63.40188976377952,&quot;top&quot;:162.36692913385826,&quot;width&quot;:865.1896850393701}"/>
</p:tagLst>
</file>

<file path=ppt/tags/tag18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KSO_WPP_MARK_KEY" val="0e5f9e42-42cc-460d-9ddc-81bc94931e52"/>
</p:tagLst>
</file>

<file path=ppt/theme/theme1.xml><?xml version="1.0" encoding="utf-8"?>
<a:theme xmlns:a="http://schemas.openxmlformats.org/drawingml/2006/main" name="第一PPT，www.1ppt.com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    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灰度">
    <a:dk1>
      <a:srgbClr val="000000"/>
    </a:dk1>
    <a:lt1>
      <a:srgbClr val="FFFFFF"/>
    </a:lt1>
    <a:dk2>
      <a:srgbClr val="768395"/>
    </a:dk2>
    <a:lt2>
      <a:srgbClr val="F0F0F0"/>
    </a:lt2>
    <a:accent1>
      <a:srgbClr val="3E3E3E"/>
    </a:accent1>
    <a:accent2>
      <a:srgbClr val="4D4D4D"/>
    </a:accent2>
    <a:accent3>
      <a:srgbClr val="717171"/>
    </a:accent3>
    <a:accent4>
      <a:srgbClr val="919191"/>
    </a:accent4>
    <a:accent5>
      <a:srgbClr val="A5A5A5"/>
    </a:accent5>
    <a:accent6>
      <a:srgbClr val="D7D7D7"/>
    </a:accent6>
    <a:hlink>
      <a:srgbClr val="3E3E3E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1888</Words>
  <Application>WPS 演示</Application>
  <PresentationFormat>自定义</PresentationFormat>
  <Paragraphs>125</Paragraphs>
  <Slides>11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Wingdings</vt:lpstr>
      <vt:lpstr>Arial</vt:lpstr>
      <vt:lpstr>AvantGarde Bk BT</vt:lpstr>
      <vt:lpstr>Open Sans Condensed Light</vt:lpstr>
      <vt:lpstr>字魂58号-创中黑</vt:lpstr>
      <vt:lpstr>黑体</vt:lpstr>
      <vt:lpstr>阿里巴巴普惠体</vt:lpstr>
      <vt:lpstr>Segoe Print</vt:lpstr>
      <vt:lpstr>字魂58号-创中黑</vt:lpstr>
      <vt:lpstr>Yu Gothic UI Semilight</vt:lpstr>
      <vt:lpstr>Yu Gothic UI Light</vt:lpstr>
      <vt:lpstr>Arial Unicode MS</vt:lpstr>
      <vt:lpstr>幼圆</vt:lpstr>
      <vt:lpstr>第一PPT，www.1ppt.com</vt:lpstr>
      <vt:lpstr>第一PPT，www.1ppt.com     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WPS_1695808332</cp:lastModifiedBy>
  <cp:revision>16</cp:revision>
  <dcterms:created xsi:type="dcterms:W3CDTF">2019-03-26T04:26:00Z</dcterms:created>
  <dcterms:modified xsi:type="dcterms:W3CDTF">2026-01-02T05:54:13Z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D653B2D4BEF9465681F3BC65DFD2F0DF_11</vt:lpwstr>
  </property>
  <property fmtid="{D5CDD505-2E9C-101B-9397-08002B2CF9AE}" pid="3" name="KSOProductBuildVer">
    <vt:lpwstr>2052-12.1.0.24034</vt:lpwstr>
  </property>
  <property fmtid="{D5CDD505-2E9C-101B-9397-08002B2CF9AE}" pid="4" name="KSOTemplateUUID">
    <vt:lpwstr>v1.0_mb_Y0R1UnCSmrbzT+SbqrpIkA==</vt:lpwstr>
  </property>
</Properties>
</file>